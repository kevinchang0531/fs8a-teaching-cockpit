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solidFill>
            <a:srgbClr val="2D4A2D"/>
          </a:solidFill>
          <a:ln w="25400">
            <a:solidFill>
              <a:srgbClr val="F5E6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14400" y="1097280"/>
            <a:ext cx="164592" cy="2926080"/>
          </a:xfrm>
          <a:prstGeom prst="rect">
            <a:avLst/>
          </a:prstGeom>
          <a:solidFill>
            <a:srgbClr val="F5E64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188720"/>
            <a:ext cx="640080" cy="640080"/>
          </a:xfrm>
          <a:prstGeom prst="ellipse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A1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FS9A 系統驗收測試訓練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</a:rPr>
              <a:t>FORMOSAT-9A 衛星操控系統驗收測試審查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台灣太空中心 TASA</a:t>
            </a:r>
            <a:pPr indent="0" marL="0">
              <a:buNone/>
            </a:pPr>
            <a:r>
              <a:rPr lang="en-US" sz="1200" dirty="0">
                <a:solidFill>
                  <a:srgbClr val="3A6A3A"/>
                </a:solidFill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操控組</a:t>
            </a:r>
            <a:pPr indent="0" marL="0">
              <a:buNone/>
            </a:pPr>
            <a:r>
              <a:rPr lang="en-US" sz="1200" dirty="0">
                <a:solidFill>
                  <a:srgbClr val="3A6A3A"/>
                </a:solidFill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F5E642"/>
                </a:solidFill>
              </a:rPr>
              <a:t>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System Acceptance Test | SOCC · TT&amp;C · FDF · MCC · DCC · GCN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FS9A 任務目標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FORMOSAT-9A Mission Objectives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394960" cy="37947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任務核心目標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台灣首個 X 頻段 SAR 衛星任務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C8C8"/>
                </a:solidFill>
              </a:rPr>
              <a:t>建立自主 SAR 技術能力：Bus、酬載、關鍵元件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2027/2029 發射 9A/9B 兩星組成星系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C8C8"/>
                </a:solidFill>
              </a:rPr>
              <a:t>全天候觀測（SAR 不受雲霧影響，24 小時可用）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應用：防救災、環境監測、資源管理、情報蒐集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1051560"/>
            <a:ext cx="3063240" cy="1737360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051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最高解析度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3716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 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806440" y="20574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Spotlight 模式（SRD 規範 0.7m）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06440" y="2880360"/>
            <a:ext cx="3063240" cy="1691640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06440" y="2880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</a:rPr>
              <a:t>星系計畫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3200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 顆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806440" y="3886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FS9A (2027) + FS9B (2029)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41605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347"/>
                </a:solidFill>
              </a:rPr>
              <a:t>重訪週期：4天/單星  ·  2天/雙星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FORMOSAT-9A 系統架構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System Architecture — Three Segments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2834640" cy="438912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太空段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Space Segment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1508760"/>
            <a:ext cx="261518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衛星本體 Bus（三軸穩定）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主酬載：XPAA（X頻段相位陣列天線）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次酬載：GNSS-RO/R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頻率：9.65 GHz（X-Band SAR）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834640" cy="438912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地面段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Ground Segment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508760"/>
            <a:ext cx="261518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SOCS：SOCC + TT&amp;C + FDF + MCC + DCC + GCN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TT&amp;C 地面站：中壢 TS1 + 台南 TS2 + 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IPS 影像處理系統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SDC 科學數據中心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005840"/>
            <a:ext cx="2834640" cy="438912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發射段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Launch Segment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508760"/>
            <a:ext cx="261518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發射載具 LV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發射支援服務（LSS）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入軌服務（OIS）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發射場介面支援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SAR 三種觀測模式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SAR Imaging Modes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2834640" cy="50292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8FB98"/>
                </a:solidFill>
              </a:rPr>
              <a:t>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Stripmap 條帶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空間解析度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 – 20 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觀測幅寬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 50 km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560320" cy="2286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主要應用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環境監測 / 農業 / 地形測繪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05840"/>
            <a:ext cx="2834640" cy="50292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005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642"/>
                </a:solidFill>
              </a:rPr>
              <a:t>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Spotlight 聚光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60020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空間解析度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874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最高 1 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37560" y="237744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觀測幅寬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2651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小幅寬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37560" y="3200400"/>
            <a:ext cx="2560320" cy="2286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主要應用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456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偵察 / 安全 / 高精度目標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1005840"/>
            <a:ext cx="2834640" cy="50292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1005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8EA"/>
                </a:solidFill>
              </a:rPr>
              <a:t>⊞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766560" y="10058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ScanSAR 掃描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09360" y="160020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空間解析度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1874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 10 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309360" y="2377440"/>
            <a:ext cx="2560320" cy="6858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觀測幅寬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2651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超寬幅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309360" y="3200400"/>
            <a:ext cx="2560320" cy="22860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200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主要應用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45643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災害監測 / 海事 / 全球覆蓋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288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C8"/>
                </a:solidFill>
              </a:rPr>
              <a:t>MR120：X-Band 中心頻率 9.65 GHz  ·  MR20：三種模式均須支援  ·  MR40：入射角 25°~45°（特殊需求可至 20°~60°）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衛星操作模式（Bus Modes）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Satellite Operating Modes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057400" cy="37947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2057400" cy="4114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Ground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4813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8C8"/>
                </a:solidFill>
              </a:rPr>
              <a:t>地面整測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810512"/>
            <a:ext cx="1691640" cy="0"/>
          </a:xfrm>
          <a:prstGeom prst="line">
            <a:avLst/>
          </a:prstGeom>
          <a:noFill/>
          <a:ln w="12700">
            <a:solidFill>
              <a:srgbClr val="3A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92024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地面組裝、整測及環境試驗期間使用。衛星在發射前的最終驗收狀態。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051560"/>
            <a:ext cx="2057400" cy="37947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051560"/>
            <a:ext cx="2057400" cy="4114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ASH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4813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47"/>
                </a:solidFill>
              </a:rPr>
              <a:t>捕獲與安全保持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810512"/>
            <a:ext cx="1691640" cy="0"/>
          </a:xfrm>
          <a:prstGeom prst="line">
            <a:avLst/>
          </a:prstGeom>
          <a:noFill/>
          <a:ln w="12700">
            <a:solidFill>
              <a:srgbClr val="3A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192024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Acquisition &amp; Safe Hold。發射後初始捕獲，確保通訊建立前維持安全姿態與電力。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051560"/>
            <a:ext cx="2057400" cy="37947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51560"/>
            <a:ext cx="2057400" cy="4114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Normal Mode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14813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FB98"/>
                </a:solidFill>
              </a:rPr>
              <a:t>正常任務操作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810512"/>
            <a:ext cx="1691640" cy="0"/>
          </a:xfrm>
          <a:prstGeom prst="line">
            <a:avLst/>
          </a:prstGeom>
          <a:noFill/>
          <a:ln w="12700">
            <a:solidFill>
              <a:srgbClr val="3A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92024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LVLH 姿態 + 偏航操縱（Yaw Steering）。指向精度 &lt; 0.03°，執行 SAR 成像任務。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051560"/>
            <a:ext cx="2057400" cy="37947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051560"/>
            <a:ext cx="2057400" cy="4114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OCM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14813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軌道控制模式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1810512"/>
            <a:ext cx="1691640" cy="0"/>
          </a:xfrm>
          <a:prstGeom prst="line">
            <a:avLst/>
          </a:prstGeom>
          <a:noFill/>
          <a:ln w="12700">
            <a:solidFill>
              <a:srgbClr val="3A6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192024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Orbit Control Mode。執行軌道機動（Delta-V burn）時切換，軌道維持與碰撞規避。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48056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25603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</a:rPr>
              <a:t>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8C8"/>
                </a:solidFill>
              </a:rPr>
              <a:t>Normal Mode 最低每 48 小時接收一次指令（SOCSRD 00520）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FS9A 關鍵性能規格摘要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Key Performance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164592" cy="1737360"/>
          </a:xfrm>
          <a:prstGeom prst="rect">
            <a:avLst/>
          </a:prstGeom>
          <a:solidFill>
            <a:srgbClr val="A8D8E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軌道高度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514 km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SSO，LTDN 11am–12pm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0058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005840"/>
            <a:ext cx="164592" cy="1737360"/>
          </a:xfrm>
          <a:prstGeom prst="rect">
            <a:avLst/>
          </a:prstGeom>
          <a:solidFill>
            <a:srgbClr val="A8D8EA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軌道傾角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97.46°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太陽同步軌道（SSO）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005840"/>
            <a:ext cx="164592" cy="1737360"/>
          </a:xfrm>
          <a:prstGeom prst="rect">
            <a:avLst/>
          </a:prstGeom>
          <a:solidFill>
            <a:srgbClr val="98FB98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設計壽命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3898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≥ 5 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含燃料餘量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34640"/>
            <a:ext cx="164592" cy="173736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衛星濕重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18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≤ 735 kg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含推進劑、平衡質量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28346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2834640"/>
            <a:ext cx="164592" cy="1737360"/>
          </a:xfrm>
          <a:prstGeom prst="rect">
            <a:avLst/>
          </a:prstGeom>
          <a:solidFill>
            <a:srgbClr val="F5E642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姿態精度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218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 0.03°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3375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Normal Mode 指向精度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2834640"/>
            <a:ext cx="2834640" cy="173736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2834640"/>
            <a:ext cx="164592" cy="1737360"/>
          </a:xfrm>
          <a:prstGeom prst="rect">
            <a:avLst/>
          </a:prstGeom>
          <a:solidFill>
            <a:srgbClr val="F5E642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</a:rPr>
              <a:t>定位誤差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21868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 50 m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1792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GCP 校正後 3 pixels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MOC — 任務操作中心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Mission Operations Center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548640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0058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MOC 核心功能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99032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24/7 全天候衛星健康監控（SOH 遙傳接收與處理）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指令上鏈處理（Command Processing）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地面站遠端監控：TT&amp;C、XAS、RTS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危機管理（Crisis Management）：衛星與地面設備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遙傳資料庫管理（Database Management）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衛星遙傳資料流模擬驗證（Telemetry Stream Simulation）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3017520" cy="3931920"/>
          </a:xfrm>
          <a:prstGeom prst="rect">
            <a:avLst/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005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SAT 測試項目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4173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SAT_MOC_01：即時遙傳處理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C8C8"/>
                </a:solidFill>
              </a:rPr>
              <a:t>SAT_MOC_02：播放遙傳處理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SAT_MOC_03：地面站遠端監控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C8C8"/>
                </a:solidFill>
              </a:rPr>
              <a:t>SAT_MOC_04：遙傳資料流模擬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SAT_MOC_05：指令上鏈處理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MCC 任務控制中心 / FDF 飛行動態設施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Mission Control Center / Flight Dynamics Facility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5196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4251960" cy="36576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MCC 任務控制中心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衛星與酬載活動排程（Scheduling）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時程衝突解決與重排程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Command Load Package 產生（TTQ / MPQ / GCQ）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海外支援站（RTS）操作時序確認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B347"/>
                </a:solidFill>
              </a:rPr>
              <a:t>每軌 ≥ 2 分鐘酬載資料採集規劃（SOCSRD 00510）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51960" cy="36576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FDF 飛行動態設施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</a:rPr>
              <a:t>軌道判定（OD）&amp; 預測（使用 OASYS 商用軟體）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TLE（Two-Line Element）產生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Delta-V 軌道調整規劃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B347"/>
                </a:solidFill>
              </a:rPr>
              <a:t>碰撞預警：距離 &lt;50m &amp; 概率 &gt;1/10000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8C8C8"/>
                </a:solidFill>
              </a:rPr>
              <a:t>轉移至 514 km 操作軌道（精度 ±50m / 0.01°）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DCC / GCN / TT&amp;C 次系統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Data Control Center / Ground Communications / TT&amp;C Stations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2834640" cy="384048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DCC 資料控制中心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35608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SOH 遙傳資料存檔與管理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趨勢分析（Trending）：監控衛星健康長期趨勢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趨勢統計報告產生（評估與預測）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軌道數據與虛擬通道資料轉傳使用者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GCN 地面通訊網路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435608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SOCC 內部 LAN + 對外介面（IPS / SDC / 發射場）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效能、可靠性與資安保護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行動內部網路支援（SOCS Mobile Intranet）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測試項：SAT_GCN_01（全面連通性驗證）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83464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05840"/>
            <a:ext cx="2834640" cy="384048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005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TT&amp;C 遙傳追蹤指令站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1435608"/>
            <a:ext cx="261518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 頻段：中壢 TS1（含 MOC 功能）+ 台南 TS2 + RTS 備援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功能：指令上鏈 / 遙傳下鏈 / 角度追蹤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每日 ≥ 1 次接觸，每次 ≥ 4 分鐘（仰角 10°+）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8C8C8"/>
                </a:solidFill>
              </a:rPr>
              <a:t>X 頻段接收站（XAS）：國內主站 + 備援站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 頻段 TT&amp;C 介面規格（GS_4）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S-Band Interface Control Requirements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3A1C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A1C"/>
                          </a:solidFill>
                        </a:rPr>
                        <a:t>規格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8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3A1C"/>
                          </a:solidFill>
                        </a:rPr>
                        <a:t>備註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8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下行頻率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2215 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BPSK 調變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上行頻率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2039.645833 MHz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BPSK 調變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極化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RHCP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遙傳速率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50 / 250 kbps / 2 Mbps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最高 2 Mbps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指令速率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32 / 250 kbps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遙傳編碼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CCSDS RS(255,223) Interleave=5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NRZ-M 線碼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指令加密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AES-256-CCM 模式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FS-5 heritage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鏈路餘裕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≥ 6 dB @ 10° 仰角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遙傳 &amp; 指令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5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E642"/>
                          </a:solidFill>
                        </a:rPr>
                        <a:t>遙傳 ≤ 10⁻⁶ / 指令 ≤ 10⁻⁷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8C8C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6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 頻段影像下鏈介面規格（GS_5）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X-Band Interface Control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5196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4251960" cy="36576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 頻段相位陣列天線（XPAA）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頻率：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8200 MHz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下鏈速率：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800 Mbps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調變：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QPSK / 16APSK / 32APSK (CCSDS 131.2-B-2)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幅寬（3dB）：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250 / 270 / 300 MHz（roll-off 0.25/0.35/0.5）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編碼：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LDPC (8160, 7136)，無交錯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BER：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≤ 10⁻⁹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鏈路餘裕：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≥ 6 dB @ 20° 仰角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衛星 EIRP：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5E642"/>
                </a:solidFill>
              </a:rPr>
              <a:t>≥ 28 dBW（XPAA peak）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51960" cy="39319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51960" cy="36576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傳統 X-band 天線（XTx）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435608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頻率：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8200 MHz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下鏈速率：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600 Mbps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調變：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8PSK-4D-TCM（ECSS-E-ST-50-05C）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極化：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RHCP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編碼：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LDPC (8160, 7136)，無交錯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BER：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≤ 10⁻⁹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衛星 EIRP：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≥ 20 dBW（peak）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8C8C8"/>
                </a:solidFill>
              </a:rPr>
              <a:t>地面天線 G/T：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8D8EA"/>
                </a:solidFill>
              </a:rPr>
              <a:t>≥ 31.3 dB/K（TS2 ≥ 32.5 dB/K）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01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3A6A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19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C8C8"/>
                </a:solidFill>
              </a:rPr>
              <a:t>TASA | FS9A SAT 操控系統驗收測試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系統驗收測試（SAT）方法與準則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</a:rPr>
              <a:t>SAT Methodology — IADT Acceptance Criteria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315968" cy="178308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731520" cy="17830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"ii"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檢查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0848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Inspection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114300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文件審查、目視確認、記錄比對。無需實際操作設備。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005840"/>
            <a:ext cx="4315968" cy="178308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005840"/>
            <a:ext cx="731520" cy="17830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"aa"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81728" y="16276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42"/>
                </a:solidFill>
              </a:rPr>
              <a:t>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208483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114300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計算、模擬、工程推導。以既有資料或模型驗證符合性。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4315968" cy="178308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731520" cy="17830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"dd"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8600" y="35478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47"/>
                </a:solidFill>
              </a:rPr>
              <a:t>展示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" y="400507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Demonstration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" y="306324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功能操作演示，觀察結果符合預期。無詳細量測數據要求。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2926080"/>
            <a:ext cx="4315968" cy="178308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926080"/>
            <a:ext cx="731520" cy="1783080"/>
          </a:xfrm>
          <a:prstGeom prst="rect">
            <a:avLst/>
          </a:prstGeom>
          <a:solidFill>
            <a:srgbClr val="1A301A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2926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"tt"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81728" y="35478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FB98"/>
                </a:solidFill>
              </a:rPr>
              <a:t>測試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400507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C8"/>
                </a:solidFill>
              </a:rPr>
              <a:t>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0" y="306324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實際量測、有完整數據記錄。最嚴格的驗收方式。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846320"/>
            <a:ext cx="8686800" cy="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C8C8"/>
                </a:solidFill>
              </a:rPr>
              <a:t>測試範疇：①衛星操控系統需求 (SOCSRD)   ②地面↔衛星介面控制 (FS9-ICD-0004)   ③地面端介面控制 (FS9-ICD-0001)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FS9A SAT 教學簡報</dc:title>
  <dc:subject>PptxGenJS Presentation</dc:subject>
  <dc:creator>PptxGenJS</dc:creator>
  <cp:lastModifiedBy>PptxGenJS</cp:lastModifiedBy>
  <cp:revision>1</cp:revision>
  <dcterms:created xsi:type="dcterms:W3CDTF">2026-05-13T12:55:46Z</dcterms:created>
  <dcterms:modified xsi:type="dcterms:W3CDTF">2026-05-13T12:55:46Z</dcterms:modified>
</cp:coreProperties>
</file>