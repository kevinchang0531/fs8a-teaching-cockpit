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8580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spc="2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XDS &amp; TTC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411480" y="164592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Operations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411480" y="2560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X-band 下行系統 &amp; S-band TTC 飛行操作訓練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3090672"/>
            <a:ext cx="594360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11480" y="3273552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FS-8A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43000" y="327355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2735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91640" y="327355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32735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40280" y="327355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3A6A3A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32735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系工組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04 / 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FS-8A · XDS&amp;TTC Operations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課程大綱 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023360" cy="14173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023360" cy="54864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6128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43000" y="11887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系統規格與架構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58191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S-band 頻率 · 收發規格 · 路徑切換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4173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4023360" cy="54864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6128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532120" y="118872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操作程序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58191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Switch · 指令清單 · 遙測監視點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023360" cy="14173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97480"/>
            <a:ext cx="4023360" cy="54864"/>
          </a:xfrm>
          <a:prstGeom prst="rect">
            <a:avLst/>
          </a:prstGeom>
          <a:solidFill>
            <a:srgbClr val="98FB98"/>
          </a:solidFill>
          <a:ln w="12700">
            <a:solidFill>
              <a:srgbClr val="98FB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0720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143000" y="283464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XDS X-band 系統架構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22783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EU · Cavity BPF · Horn Antenna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697480"/>
            <a:ext cx="4023360" cy="1417320"/>
          </a:xfrm>
          <a:prstGeom prst="rect">
            <a:avLst/>
          </a:prstGeom>
          <a:solidFill>
            <a:srgbClr val="254525"/>
          </a:solidFill>
          <a:ln w="12700">
            <a:solidFill>
              <a:srgbClr val="3A6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697480"/>
            <a:ext cx="4023360" cy="5486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80720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B34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5532120" y="283464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XDS 操作程序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322783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XTx-A On · XTx-B On · 遙測確認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FS-8A · XDS&amp;TTC Operations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  TTC 系統規格  S-band Specifications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69080" cy="3611880"/>
          </a:xfrm>
          <a:prstGeom prst="rect">
            <a:avLst/>
          </a:prstGeom>
          <a:solidFill>
            <a:srgbClr val="1E3A1E"/>
          </a:solidFill>
          <a:ln w="19050">
            <a:solidFill>
              <a:srgbClr val="F5E6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69080" cy="347472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Transmitter (STx)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Frequency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4447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2215 MHz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920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4 MHz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23957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871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Rate (LEO)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8712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kbps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3467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Rate (ASH)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33467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 kbps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822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Rate (NM)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38221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Mbps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005840"/>
            <a:ext cx="4069080" cy="3611880"/>
          </a:xfrm>
          <a:prstGeom prst="rect">
            <a:avLst/>
          </a:prstGeom>
          <a:solidFill>
            <a:srgbClr val="1E3A1E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005840"/>
            <a:ext cx="4069080" cy="347472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Receiver (SRx)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14447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Frequency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14447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2039.645833 MHz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9202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19202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2 MHz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3957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23957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8712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28712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kbps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3467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Power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334670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-50 ~ -112 dBm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8221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Sweep Rate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38221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32 kHz/s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FS-8A · XDS&amp;TTC Operations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  TTC 架構與 RF 路徑切換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566160"/>
          </a:xfrm>
          <a:prstGeom prst="rect">
            <a:avLst/>
          </a:prstGeom>
          <a:solidFill>
            <a:srgbClr val="1E3A1E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109728" cy="292608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3898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TRxA (710)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01952"/>
            <a:ext cx="109728" cy="292608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019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TRxB (711)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414016"/>
            <a:ext cx="109728" cy="2926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140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SW (730)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109728" cy="292608"/>
          </a:xfrm>
          <a:prstGeom prst="rect">
            <a:avLst/>
          </a:prstGeom>
          <a:solidFill>
            <a:srgbClr val="98FB98"/>
          </a:solidFill>
          <a:ln w="12700">
            <a:solidFill>
              <a:srgbClr val="98FB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926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Diplexer A/B (740/741)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438144"/>
            <a:ext cx="109728" cy="292608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4381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Helix_1A (750)  Patch antennas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3749040" cy="0"/>
          </a:xfrm>
          <a:prstGeom prst="line">
            <a:avLst/>
          </a:prstGeom>
          <a:noFill/>
          <a:ln w="12700">
            <a:solidFill>
              <a:srgbClr val="3A6A3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02920" y="40690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雙備援架構：TRxA 與 TRxB 可互為備援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切換由 RF Switch (730) 控制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114800" cy="1737360"/>
          </a:xfrm>
          <a:prstGeom prst="rect">
            <a:avLst/>
          </a:prstGeom>
          <a:solidFill>
            <a:srgbClr val="254525"/>
          </a:solidFill>
          <a:ln w="19050">
            <a:solidFill>
              <a:srgbClr val="F5E6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789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POS 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1444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TRxA (710)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89320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Diplexer A (740)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170078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Helix_1A (750) / Patch_2A (752)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TRxB (711)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8932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Diplexer B (741)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26771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Patch_1B (751) / Patch_2B (753)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880360"/>
            <a:ext cx="4114800" cy="1737360"/>
          </a:xfrm>
          <a:prstGeom prst="rect">
            <a:avLst/>
          </a:prstGeom>
          <a:solidFill>
            <a:srgbClr val="254525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953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POS 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54880" y="3319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TRxA (710)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89320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33192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Diplexer B (741)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357530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Patch_2B (753) / Helix_1A (750)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TRxB (711)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8932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3886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Diplexer A (740)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41422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Patch_2A (752)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FS-8A · XDS&amp;TTC Operations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  TTC 指令清單  EPS Commands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20040" y="987552"/>
            <a:ext cx="4069080" cy="521208"/>
          </a:xfrm>
          <a:prstGeom prst="rect">
            <a:avLst/>
          </a:prstGeom>
          <a:solidFill>
            <a:srgbClr val="1E3A1E"/>
          </a:solidFill>
          <a:ln w="9525">
            <a:solidFill>
              <a:srgbClr val="98FB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64008" cy="521208"/>
          </a:xfrm>
          <a:prstGeom prst="rect">
            <a:avLst/>
          </a:prstGeom>
          <a:solidFill>
            <a:srgbClr val="98FB98"/>
          </a:solidFill>
          <a:ln w="12700">
            <a:solidFill>
              <a:srgbClr val="98FB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ESBTXAEN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S-band Transmitter A Enable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4069080" cy="521208"/>
          </a:xfrm>
          <a:prstGeom prst="rect">
            <a:avLst/>
          </a:prstGeom>
          <a:solidFill>
            <a:srgbClr val="1E3A1E"/>
          </a:solidFill>
          <a:ln w="9525">
            <a:solidFill>
              <a:srgbClr val="98FB9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00200"/>
            <a:ext cx="64008" cy="521208"/>
          </a:xfrm>
          <a:prstGeom prst="rect">
            <a:avLst/>
          </a:prstGeom>
          <a:solidFill>
            <a:srgbClr val="98FB98"/>
          </a:solidFill>
          <a:ln w="12700">
            <a:solidFill>
              <a:srgbClr val="98FB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ESBTXBEN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S-band Transmitter B Enable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4069080" cy="521208"/>
          </a:xfrm>
          <a:prstGeom prst="rect">
            <a:avLst/>
          </a:prstGeom>
          <a:solidFill>
            <a:srgbClr val="1E3A1E"/>
          </a:solidFill>
          <a:ln w="9525">
            <a:solidFill>
              <a:srgbClr val="FF70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12848"/>
            <a:ext cx="64008" cy="521208"/>
          </a:xfrm>
          <a:prstGeom prst="rect">
            <a:avLst/>
          </a:prstGeom>
          <a:solidFill>
            <a:srgbClr val="FF7070"/>
          </a:solidFill>
          <a:ln w="12700">
            <a:solidFill>
              <a:srgbClr val="FF7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585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ESBTXADS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S-band Transmitter A Disable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825496"/>
            <a:ext cx="4069080" cy="521208"/>
          </a:xfrm>
          <a:prstGeom prst="rect">
            <a:avLst/>
          </a:prstGeom>
          <a:solidFill>
            <a:srgbClr val="1E3A1E"/>
          </a:solidFill>
          <a:ln w="9525">
            <a:solidFill>
              <a:srgbClr val="FF70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825496"/>
            <a:ext cx="64008" cy="521208"/>
          </a:xfrm>
          <a:prstGeom prst="rect">
            <a:avLst/>
          </a:prstGeom>
          <a:solidFill>
            <a:srgbClr val="FF7070"/>
          </a:solidFill>
          <a:ln w="12700">
            <a:solidFill>
              <a:srgbClr val="FF7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712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ESBTXBDS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0998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S-band Transmitter B Disable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438144"/>
            <a:ext cx="4069080" cy="521208"/>
          </a:xfrm>
          <a:prstGeom prst="rect">
            <a:avLst/>
          </a:prstGeom>
          <a:solidFill>
            <a:srgbClr val="1E3A1E"/>
          </a:solidFill>
          <a:ln w="9525">
            <a:solidFill>
              <a:srgbClr val="F5E6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438144"/>
            <a:ext cx="64008" cy="521208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83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ESBSWPOS1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7124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S-band RF Switch → Position 1 Pulse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050792"/>
            <a:ext cx="4069080" cy="521208"/>
          </a:xfrm>
          <a:prstGeom prst="rect">
            <a:avLst/>
          </a:prstGeom>
          <a:solidFill>
            <a:srgbClr val="1E3A1E"/>
          </a:solidFill>
          <a:ln w="9525">
            <a:solidFill>
              <a:srgbClr val="F5E6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050792"/>
            <a:ext cx="64008" cy="521208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965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ESBSWPOS2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3251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S-band RF Switch → Position 2 Pulse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987552"/>
            <a:ext cx="4069080" cy="521208"/>
          </a:xfrm>
          <a:prstGeom prst="rect">
            <a:avLst/>
          </a:prstGeom>
          <a:solidFill>
            <a:srgbClr val="1E3A1E"/>
          </a:solidFill>
          <a:ln w="9525">
            <a:solidFill>
              <a:srgbClr val="A8D8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987552"/>
            <a:ext cx="64008" cy="521208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033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ESBSWPOS1OC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1261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Switch POS1 OC flag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600200"/>
            <a:ext cx="4069080" cy="521208"/>
          </a:xfrm>
          <a:prstGeom prst="rect">
            <a:avLst/>
          </a:prstGeom>
          <a:solidFill>
            <a:srgbClr val="1E3A1E"/>
          </a:solidFill>
          <a:ln w="9525">
            <a:solidFill>
              <a:srgbClr val="A8D8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1600200"/>
            <a:ext cx="64008" cy="521208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645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ESBSWPOS2OC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1874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Switch POS2 OC flag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212848"/>
            <a:ext cx="4069080" cy="521208"/>
          </a:xfrm>
          <a:prstGeom prst="rect">
            <a:avLst/>
          </a:prstGeom>
          <a:solidFill>
            <a:srgbClr val="1E3A1E"/>
          </a:solidFill>
          <a:ln w="9525">
            <a:solidFill>
              <a:srgbClr val="FFB3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212848"/>
            <a:ext cx="64008" cy="5212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2585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ESBTXAON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24871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S-band Transmitter A 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825496"/>
            <a:ext cx="4069080" cy="521208"/>
          </a:xfrm>
          <a:prstGeom prst="rect">
            <a:avLst/>
          </a:prstGeom>
          <a:solidFill>
            <a:srgbClr val="1E3A1E"/>
          </a:solidFill>
          <a:ln w="9525">
            <a:solidFill>
              <a:srgbClr val="FFB34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825496"/>
            <a:ext cx="64008" cy="5212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28712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ESBTXBON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92040" y="30998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S-band Transmitter B 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438144"/>
            <a:ext cx="4069080" cy="521208"/>
          </a:xfrm>
          <a:prstGeom prst="rect">
            <a:avLst/>
          </a:prstGeom>
          <a:solidFill>
            <a:srgbClr val="1E3A1E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438144"/>
            <a:ext cx="64008" cy="521208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483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CSTXOFF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92040" y="37124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S-band Transmitter A/B OFF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FS-8A · XDS&amp;TTC Operations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  TTC 遙測監視點  Key Telemetry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20040" y="987552"/>
            <a:ext cx="4069080" cy="3611880"/>
          </a:xfrm>
          <a:prstGeom prst="rect">
            <a:avLst/>
          </a:prstGeom>
          <a:solidFill>
            <a:srgbClr val="1E3A1E"/>
          </a:solidFill>
          <a:ln w="19050">
            <a:solidFill>
              <a:srgbClr val="F5E6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4069080" cy="320040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 A 監視點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SBAND_A_RXBPSK_RATE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063240" y="1371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E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32KBPS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664208"/>
            <a:ext cx="388620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dot"/>
          </a:ln>
        </p:spPr>
      </p:sp>
      <p:sp>
        <p:nvSpPr>
          <p:cNvPr id="10" name="Text 8"/>
          <p:cNvSpPr/>
          <p:nvPr/>
        </p:nvSpPr>
        <p:spPr>
          <a:xfrm>
            <a:off x="457200" y="1901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SBAND_A_BPSK_CALOCK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63240" y="1901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E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194560"/>
            <a:ext cx="388620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dot"/>
          </a:ln>
        </p:spPr>
      </p:sp>
      <p:sp>
        <p:nvSpPr>
          <p:cNvPr id="13" name="Text 11"/>
          <p:cNvSpPr/>
          <p:nvPr/>
        </p:nvSpPr>
        <p:spPr>
          <a:xfrm>
            <a:off x="457200" y="24323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SBAND_A_RXLOCK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63240" y="2432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E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724912"/>
            <a:ext cx="388620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dot"/>
          </a:ln>
        </p:spPr>
      </p:sp>
      <p:sp>
        <p:nvSpPr>
          <p:cNvPr id="16" name="Text 14"/>
          <p:cNvSpPr/>
          <p:nvPr/>
        </p:nvSpPr>
        <p:spPr>
          <a:xfrm>
            <a:off x="457200" y="2962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SBAND_A_TX_POWER_GOOD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63240" y="29626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E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NOMINAL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255264"/>
            <a:ext cx="388620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dot"/>
          </a:ln>
        </p:spPr>
      </p:sp>
      <p:sp>
        <p:nvSpPr>
          <p:cNvPr id="19" name="Text 17"/>
          <p:cNvSpPr/>
          <p:nvPr/>
        </p:nvSpPr>
        <p:spPr>
          <a:xfrm>
            <a:off x="457200" y="3493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SBAND_A_TX_LOCK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63240" y="34930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E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785616"/>
            <a:ext cx="388620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dot"/>
          </a:ln>
        </p:spPr>
      </p:sp>
      <p:sp>
        <p:nvSpPr>
          <p:cNvPr id="22" name="Text 20"/>
          <p:cNvSpPr/>
          <p:nvPr/>
        </p:nvSpPr>
        <p:spPr>
          <a:xfrm>
            <a:off x="457200" y="4023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SBAND_A_TXDATARATEINDEX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063240" y="4023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E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50/250/2000 kbps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987552"/>
            <a:ext cx="4069080" cy="3611880"/>
          </a:xfrm>
          <a:prstGeom prst="rect">
            <a:avLst/>
          </a:prstGeom>
          <a:solidFill>
            <a:srgbClr val="1E3A1E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987552"/>
            <a:ext cx="4069080" cy="32004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9875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 B 監視點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SBAND_B_RXBPSK_RATE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98080" y="1371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32KBPS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1664208"/>
            <a:ext cx="388620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dot"/>
          </a:ln>
        </p:spPr>
      </p:sp>
      <p:sp>
        <p:nvSpPr>
          <p:cNvPr id="30" name="Text 28"/>
          <p:cNvSpPr/>
          <p:nvPr/>
        </p:nvSpPr>
        <p:spPr>
          <a:xfrm>
            <a:off x="4892040" y="1901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SBAND_B_BPSK_CALOCK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98080" y="1901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2194560"/>
            <a:ext cx="388620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dot"/>
          </a:ln>
        </p:spPr>
      </p:sp>
      <p:sp>
        <p:nvSpPr>
          <p:cNvPr id="33" name="Text 31"/>
          <p:cNvSpPr/>
          <p:nvPr/>
        </p:nvSpPr>
        <p:spPr>
          <a:xfrm>
            <a:off x="4892040" y="24323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SBAND_B_RXLOCK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98080" y="2432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2724912"/>
            <a:ext cx="388620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dot"/>
          </a:ln>
        </p:spPr>
      </p:sp>
      <p:sp>
        <p:nvSpPr>
          <p:cNvPr id="36" name="Text 34"/>
          <p:cNvSpPr/>
          <p:nvPr/>
        </p:nvSpPr>
        <p:spPr>
          <a:xfrm>
            <a:off x="4892040" y="2962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SBAND_B_TX_LOCK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498080" y="29626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255264"/>
            <a:ext cx="388620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dot"/>
          </a:ln>
        </p:spPr>
      </p:sp>
      <p:sp>
        <p:nvSpPr>
          <p:cNvPr id="39" name="Text 37"/>
          <p:cNvSpPr/>
          <p:nvPr/>
        </p:nvSpPr>
        <p:spPr>
          <a:xfrm>
            <a:off x="4892040" y="3493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SBAND_B_TXDATARATEINDEX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498080" y="34930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50/250/2000 kbps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3785616"/>
            <a:ext cx="3886200" cy="0"/>
          </a:xfrm>
          <a:prstGeom prst="line">
            <a:avLst/>
          </a:prstGeom>
          <a:noFill/>
          <a:ln w="6350">
            <a:solidFill>
              <a:srgbClr val="3A6A3A"/>
            </a:solidFill>
            <a:prstDash val="dot"/>
          </a:ln>
        </p:spPr>
      </p:sp>
      <p:sp>
        <p:nvSpPr>
          <p:cNvPr id="42" name="Text 40"/>
          <p:cNvSpPr/>
          <p:nvPr/>
        </p:nvSpPr>
        <p:spPr>
          <a:xfrm>
            <a:off x="4892040" y="4023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SBAND_B_SSPA_TEMP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498080" y="4023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-20 ~ +60 °C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FS-8A · XDS&amp;TTC Operations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  XDS X-band 下行系統架構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1600200" cy="868680"/>
          </a:xfrm>
          <a:prstGeom prst="rect">
            <a:avLst/>
          </a:prstGeom>
          <a:solidFill>
            <a:srgbClr val="254525"/>
          </a:solidFill>
          <a:ln w="19050">
            <a:solidFill>
              <a:srgbClr val="C8C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(511)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1485900"/>
            <a:ext cx="5029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2103120" y="1051560"/>
            <a:ext cx="1600200" cy="868680"/>
          </a:xfrm>
          <a:prstGeom prst="rect">
            <a:avLst/>
          </a:prstGeom>
          <a:solidFill>
            <a:srgbClr val="254525"/>
          </a:solidFill>
          <a:ln w="19050">
            <a:solidFill>
              <a:srgbClr val="F5E6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0515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EU-A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(820 / 850)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03320" y="1485900"/>
            <a:ext cx="5029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069080" y="1051560"/>
            <a:ext cx="1600200" cy="868680"/>
          </a:xfrm>
          <a:prstGeom prst="rect">
            <a:avLst/>
          </a:prstGeom>
          <a:solidFill>
            <a:srgbClr val="254525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10515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X-band Tx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(860 / 870)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485900"/>
            <a:ext cx="5029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6035040" y="1051560"/>
            <a:ext cx="1600200" cy="868680"/>
          </a:xfrm>
          <a:prstGeom prst="rect">
            <a:avLst/>
          </a:prstGeom>
          <a:solidFill>
            <a:srgbClr val="254525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515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Cavity BPF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(860)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35240" y="1485900"/>
            <a:ext cx="5029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863840" y="1051560"/>
            <a:ext cx="1600200" cy="868680"/>
          </a:xfrm>
          <a:prstGeom prst="rect">
            <a:avLst/>
          </a:prstGeom>
          <a:solidFill>
            <a:srgbClr val="254525"/>
          </a:solidFill>
          <a:ln w="19050">
            <a:solidFill>
              <a:srgbClr val="98FB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0515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8F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8F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03120" y="2377440"/>
            <a:ext cx="1600200" cy="868680"/>
          </a:xfrm>
          <a:prstGeom prst="rect">
            <a:avLst/>
          </a:prstGeom>
          <a:solidFill>
            <a:srgbClr val="1E3A1E"/>
          </a:solidFill>
          <a:ln w="12700">
            <a:solidFill>
              <a:srgbClr val="F5E642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103120" y="23774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EU-B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(821 / 851)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03320" y="2811780"/>
            <a:ext cx="50292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4069080" y="2377440"/>
            <a:ext cx="1600200" cy="868680"/>
          </a:xfrm>
          <a:prstGeom prst="rect">
            <a:avLst/>
          </a:prstGeom>
          <a:solidFill>
            <a:srgbClr val="1E3A1E"/>
          </a:solidFill>
          <a:ln w="12700">
            <a:solidFill>
              <a:srgbClr val="FFB347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069080" y="23774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X-band Tx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(861 / 871)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2811780"/>
            <a:ext cx="50292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6035040" y="2377440"/>
            <a:ext cx="1600200" cy="868680"/>
          </a:xfrm>
          <a:prstGeom prst="rect">
            <a:avLst/>
          </a:prstGeom>
          <a:solidFill>
            <a:srgbClr val="1E3A1E"/>
          </a:solidFill>
          <a:ln w="12700">
            <a:solidFill>
              <a:srgbClr val="A8D8E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35040" y="23774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Cavity BPF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(861)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2811780"/>
            <a:ext cx="50292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7863840" y="2377440"/>
            <a:ext cx="1600200" cy="868680"/>
          </a:xfrm>
          <a:prstGeom prst="rect">
            <a:avLst/>
          </a:prstGeom>
          <a:solidFill>
            <a:srgbClr val="1E3A1E"/>
          </a:solidFill>
          <a:ln w="12700">
            <a:solidFill>
              <a:srgbClr val="98FB98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7863840" y="23774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F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8F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20240" y="1485900"/>
            <a:ext cx="1828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920240" y="2811780"/>
            <a:ext cx="18288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920240" y="1485900"/>
            <a:ext cx="0" cy="132588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2148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LVDS  Data &amp; Clock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" y="2148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/ RS422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2514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657600"/>
            <a:ext cx="8503920" cy="822960"/>
          </a:xfrm>
          <a:prstGeom prst="rect">
            <a:avLst/>
          </a:prstGeom>
          <a:solidFill>
            <a:srgbClr val="1E3A1E"/>
          </a:solidFill>
          <a:ln w="12700">
            <a:solidFill>
              <a:srgbClr val="3A6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7033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A（主）與 Channel B（備援）互為冗餘架構。OBC 透過 LVDS 傳送影像資料，RSI EU 負責資料格式化，X-band Tx 進行 RF 調變後經 Cavity BPF 濾波，最後由 Horn 天線下行傳輸至地面。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FS-8A · XDS&amp;TTC Operations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  XTx-A 開機程序  XTx-A 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20040" y="987552"/>
            <a:ext cx="8503920" cy="822960"/>
          </a:xfrm>
          <a:prstGeom prst="rect">
            <a:avLst/>
          </a:prstGeom>
          <a:solidFill>
            <a:srgbClr val="1E3A1E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64008" cy="822960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24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Step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0424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XTx-A Equipment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CXTXEAON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0" y="1042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XTXA_MAIN_STATE: IdlePower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0" y="1371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XTXA_TX_PWR_ONOFF: Power Off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8503920" cy="822960"/>
          </a:xfrm>
          <a:prstGeom prst="rect">
            <a:avLst/>
          </a:prstGeom>
          <a:solidFill>
            <a:srgbClr val="1E3A1E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20240"/>
            <a:ext cx="64008" cy="82296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751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Step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19751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Channel A Input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24942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PXTXACMD  XTXCMDID="HBP_DATAIF_CONFIG"  XTXCMDDATA=0x00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0" y="19751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XTXA_DATA_IF_CFG_CHANNEL: Channel 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0" y="2304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XTXA_TEST_MODE_ENDIS: Normal Mode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52928"/>
            <a:ext cx="8503920" cy="822960"/>
          </a:xfrm>
          <a:prstGeom prst="rect">
            <a:avLst/>
          </a:prstGeom>
          <a:solidFill>
            <a:srgbClr val="1E3A1E"/>
          </a:solidFill>
          <a:ln w="12700">
            <a:solidFill>
              <a:srgbClr val="98FB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52928"/>
            <a:ext cx="64008" cy="822960"/>
          </a:xfrm>
          <a:prstGeom prst="rect">
            <a:avLst/>
          </a:prstGeom>
          <a:solidFill>
            <a:srgbClr val="98FB98"/>
          </a:solidFill>
          <a:ln w="12700">
            <a:solidFill>
              <a:srgbClr val="98FB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077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FB9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Step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2907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Transmission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18211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PXTXACMD  XTXCMDID="TRANSMISSION_ON_OFF"  XTXCMDDATA=0x80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0" y="29077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XTXA_MAIN_STATE: Transmitting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0" y="32369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XTXA_TX_PWR_ONOFF: Power 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785616"/>
            <a:ext cx="8503920" cy="822960"/>
          </a:xfrm>
          <a:prstGeom prst="rect">
            <a:avLst/>
          </a:prstGeom>
          <a:solidFill>
            <a:srgbClr val="1E3A1E"/>
          </a:solidFill>
          <a:ln w="12700">
            <a:solidFill>
              <a:srgbClr val="FF70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785616"/>
            <a:ext cx="64008" cy="822960"/>
          </a:xfrm>
          <a:prstGeom prst="rect">
            <a:avLst/>
          </a:prstGeom>
          <a:solidFill>
            <a:srgbClr val="FF7070"/>
          </a:solidFill>
          <a:ln w="12700">
            <a:solidFill>
              <a:srgbClr val="FF70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404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707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Step 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38404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Transmission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PXTXACMD  XTXCMDID="TRANSMISSION_ON_OFF"  XTXCMDDATA=0x00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3840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XTXA_MAIN_STATE: IdlePower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FS-8A · XDS&amp;TTC Operations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1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  XTx-B 操作程序  XTx-B Operations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886968"/>
            <a:ext cx="8138160" cy="0"/>
          </a:xfrm>
          <a:prstGeom prst="line">
            <a:avLst/>
          </a:prstGeom>
          <a:noFill/>
          <a:ln w="19050">
            <a:solidFill>
              <a:srgbClr val="3A6A3A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20040" y="987552"/>
            <a:ext cx="8503920" cy="640080"/>
          </a:xfrm>
          <a:prstGeom prst="rect">
            <a:avLst/>
          </a:prstGeom>
          <a:solidFill>
            <a:srgbClr val="1E3A1E"/>
          </a:solidFill>
          <a:ln w="9525">
            <a:solidFill>
              <a:srgbClr val="98FB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64008" cy="640080"/>
          </a:xfrm>
          <a:prstGeom prst="rect">
            <a:avLst/>
          </a:prstGeom>
          <a:solidFill>
            <a:srgbClr val="98FB98"/>
          </a:solidFill>
          <a:ln w="12700">
            <a:solidFill>
              <a:srgbClr val="98FB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24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CTXTEBON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XTx-B On（設備指令）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10424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XTXB_BASEBAND_ENABLE = 0x03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138988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8F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設備電源開啟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8503920" cy="640080"/>
          </a:xfrm>
          <a:prstGeom prst="rect">
            <a:avLst/>
          </a:prstGeom>
          <a:solidFill>
            <a:srgbClr val="1E3A1E"/>
          </a:solidFill>
          <a:ln w="9525">
            <a:solidFill>
              <a:srgbClr val="A8D8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737360"/>
            <a:ext cx="64008" cy="640080"/>
          </a:xfrm>
          <a:prstGeom prst="rect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922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PXTXFON  XTX_CONF="XTXB"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0848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功能指令 — 設定 FPGA Digital &amp; RF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79222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 digital &amp; RF 參數初始化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213969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FPGA 組態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8503920" cy="640080"/>
          </a:xfrm>
          <a:prstGeom prst="rect">
            <a:avLst/>
          </a:prstGeom>
          <a:solidFill>
            <a:srgbClr val="1E3A1E"/>
          </a:solidFill>
          <a:ln w="9525">
            <a:solidFill>
              <a:srgbClr val="F5E6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87168"/>
            <a:ext cx="64008" cy="640080"/>
          </a:xfrm>
          <a:prstGeom prst="rect">
            <a:avLst/>
          </a:prstGeom>
          <a:solidFill>
            <a:srgbClr val="F5E642"/>
          </a:solidFill>
          <a:ln w="12700">
            <a:solidFill>
              <a:srgbClr val="F5E6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42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CXTXBRFON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5420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XTXB_PA_3W_ENABLE = ENABLED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XTXB_PA_2W_ENABLE = ENABLED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2889504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功率放大器啟動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236976"/>
            <a:ext cx="8503920" cy="640080"/>
          </a:xfrm>
          <a:prstGeom prst="rect">
            <a:avLst/>
          </a:prstGeom>
          <a:solidFill>
            <a:srgbClr val="1E3A1E"/>
          </a:solidFill>
          <a:ln w="9525">
            <a:solidFill>
              <a:srgbClr val="FFB3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236976"/>
            <a:ext cx="64008" cy="64008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918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CXTXBRFOFF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5844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Off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32918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XTXB_TX_PA_NEG_ENABLE = DISABLED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XTXB_TX_PA_POS_ENABLE = DISABLED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363931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功率放大器關閉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986784"/>
            <a:ext cx="8503920" cy="640080"/>
          </a:xfrm>
          <a:prstGeom prst="rect">
            <a:avLst/>
          </a:prstGeom>
          <a:solidFill>
            <a:srgbClr val="1E3A1E"/>
          </a:solidFill>
          <a:ln w="9525">
            <a:solidFill>
              <a:srgbClr val="FF70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986784"/>
            <a:ext cx="64008" cy="640080"/>
          </a:xfrm>
          <a:prstGeom prst="rect">
            <a:avLst/>
          </a:prstGeom>
          <a:solidFill>
            <a:srgbClr val="FF7070"/>
          </a:solidFill>
          <a:ln w="12700">
            <a:solidFill>
              <a:srgbClr val="FF70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416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CXTXEBOFF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3342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XTx-B Off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40416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XTXB_BASEBAND_ENABLE = 0x00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43891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設備完全關閉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· FS-8A · XDS&amp;TTC Operations · 系工組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4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3A6A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spc="200" kern="0" dirty="0">
                <a:solidFill>
                  <a:srgbClr val="F5E6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總結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S-band：雙備援 TRxA/B，透過 RF Switch (730) 切換 POS1/POS2 路徑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585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操作關鍵：確認 BPSK_CALOCK / RXLOCK / TX_LOCK 遙測全部 LOCK 狀態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443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8F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XDS X-band：OBC → RSI EU → X-band Tx → BPF → Horn Antenna 下行鏈路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30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XTx 操作：設備 On → FPGA 設定 → RF On，每步驟皆需確認遙測回報正常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21A"/>
          </a:solidFill>
          <a:ln w="12700">
            <a:solidFill>
              <a:srgbClr val="1A32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XDS &amp; TTC Operations · TASA FS-8A · 系工組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XDS &amp; TTC Operations FS-8A</dc:title>
  <dc:subject>PptxGenJS Presentation</dc:subject>
  <dc:creator>PptxGenJS</dc:creator>
  <cp:lastModifiedBy>PptxGenJS</cp:lastModifiedBy>
  <cp:revision>1</cp:revision>
  <dcterms:created xsi:type="dcterms:W3CDTF">2026-05-23T08:13:46Z</dcterms:created>
  <dcterms:modified xsi:type="dcterms:W3CDTF">2026-05-23T08:13:46Z</dcterms:modified>
</cp:coreProperties>
</file>